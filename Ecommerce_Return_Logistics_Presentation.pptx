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6" d="100"/>
          <a:sy n="76" d="100"/>
        </p:scale>
        <p:origin x="-480" y="2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823960" y="0"/>
            <a:ext cx="3364992" cy="6858000"/>
          </a:xfrm>
          <a:prstGeom prst="rect">
            <a:avLst/>
          </a:prstGeom>
          <a:solidFill>
            <a:srgbClr val="2151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235440" y="594360"/>
            <a:ext cx="2011680" cy="2011680"/>
          </a:xfrm>
          <a:prstGeom prst="roundRect">
            <a:avLst/>
          </a:prstGeom>
          <a:solidFill>
            <a:srgbClr val="19B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601200" y="960120"/>
            <a:ext cx="1280160" cy="1280160"/>
          </a:xfrm>
          <a:prstGeom prst="roundRect">
            <a:avLst/>
          </a:prstGeom>
          <a:solidFill>
            <a:srgbClr val="0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73152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9B5C1"/>
                </a:solidFill>
                <a:latin typeface="Aptos"/>
              </a:defRPr>
            </a:pPr>
            <a:r>
              <a:t>DATA ANALYTICS CERTIFICATION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8229600" cy="1920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FFFFFF"/>
                </a:solidFill>
                <a:latin typeface="Aptos"/>
              </a:defRPr>
            </a:pPr>
            <a:r>
              <a:t>E-Commerce Return</a:t>
            </a:r>
          </a:p>
          <a:p>
            <a:pPr>
              <a:spcAft>
                <a:spcPts val="800"/>
              </a:spcAft>
              <a:defRPr sz="3600" b="1">
                <a:solidFill>
                  <a:srgbClr val="FFFFFF"/>
                </a:solidFill>
                <a:latin typeface="Aptos"/>
              </a:defRPr>
            </a:pPr>
            <a:r>
              <a:t>Logistics Performance</a:t>
            </a:r>
          </a:p>
          <a:p>
            <a:pPr>
              <a:spcAft>
                <a:spcPts val="800"/>
              </a:spcAft>
              <a:defRPr sz="3600" b="1">
                <a:solidFill>
                  <a:srgbClr val="FFFFFF"/>
                </a:solidFill>
                <a:latin typeface="Aptos"/>
              </a:defRPr>
            </a:pPr>
            <a:r>
              <a:t>&amp; Cost Optimization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81728"/>
            <a:ext cx="731520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C5DCF5"/>
                </a:solidFill>
                <a:latin typeface="Aptos"/>
              </a:defRPr>
            </a:pPr>
            <a:r>
              <a:t>Python  /  MySQL  /  Power BI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596128"/>
            <a:ext cx="4572000" cy="36576"/>
          </a:xfrm>
          <a:prstGeom prst="rect">
            <a:avLst/>
          </a:prstGeom>
          <a:solidFill>
            <a:srgbClr val="19B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5870448"/>
            <a:ext cx="640080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Presented by Deepa K Raj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B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83464"/>
            <a:ext cx="82296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151A9"/>
                </a:solidFill>
                <a:latin typeface="Aptos"/>
              </a:defRPr>
            </a:pPr>
            <a:r>
              <a:t>01  /  PROJECT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94944"/>
            <a:ext cx="10972800" cy="5303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0C1C38"/>
                </a:solidFill>
                <a:latin typeface="Aptos"/>
              </a:defRPr>
            </a:pPr>
            <a:r>
              <a:t>The Business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0972800" cy="38404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B7D97"/>
                </a:solidFill>
                <a:latin typeface="Aptos"/>
              </a:defRPr>
            </a:pPr>
            <a:r>
              <a:t>Why analyzing returns matters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73952"/>
            <a:ext cx="11109960" cy="13716"/>
          </a:xfrm>
          <a:prstGeom prst="rect">
            <a:avLst/>
          </a:prstGeom>
          <a:solidFill>
            <a:srgbClr val="E0ED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47104"/>
            <a:ext cx="8229600" cy="182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B7D97"/>
                </a:solidFill>
                <a:latin typeface="Aptos"/>
              </a:defRPr>
            </a:pPr>
            <a:r>
              <a:t>E-COMMERCE RETURN LOGISTICS  •  DEEPA K RAJ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519672"/>
            <a:ext cx="502920" cy="2011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2151A9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947672"/>
            <a:ext cx="3493008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1947672"/>
            <a:ext cx="68580" cy="2926080"/>
          </a:xfrm>
          <a:prstGeom prst="rect">
            <a:avLst/>
          </a:prstGeom>
          <a:solidFill>
            <a:srgbClr val="19B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3816" y="2130552"/>
            <a:ext cx="3127248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C1C38"/>
                </a:solidFill>
                <a:latin typeface="Aptos"/>
              </a:defRPr>
            </a:pPr>
            <a:r>
              <a:t>Customer experience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" y="2633472"/>
            <a:ext cx="3063239" cy="217627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B7D97"/>
                </a:solidFill>
                <a:latin typeface="Aptos"/>
              </a:defRPr>
            </a:pPr>
            <a:r>
              <a:t>Unexpected product quality, incorrect items and unclear descriptions can lead to returns.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947672"/>
            <a:ext cx="3493008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43400" y="1947672"/>
            <a:ext cx="68580" cy="2926080"/>
          </a:xfrm>
          <a:prstGeom prst="rect">
            <a:avLst/>
          </a:prstGeom>
          <a:solidFill>
            <a:srgbClr val="19B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62856" y="2130552"/>
            <a:ext cx="3127248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C1C38"/>
                </a:solidFill>
                <a:latin typeface="Aptos"/>
              </a:defRPr>
            </a:pPr>
            <a:r>
              <a:t>Operational effort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2856" y="2633472"/>
            <a:ext cx="3063239" cy="217627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B7D97"/>
                </a:solidFill>
                <a:latin typeface="Aptos"/>
              </a:defRPr>
            </a:pPr>
            <a:r>
              <a:t>Returns create additional handling, coordination and inventory challenges.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01583" y="1947672"/>
            <a:ext cx="3493008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01583" y="1947672"/>
            <a:ext cx="68580" cy="2926080"/>
          </a:xfrm>
          <a:prstGeom prst="rect">
            <a:avLst/>
          </a:prstGeom>
          <a:solidFill>
            <a:srgbClr val="F9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21040" y="2130552"/>
            <a:ext cx="3127248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C1C38"/>
                </a:solidFill>
                <a:latin typeface="Aptos"/>
              </a:defRPr>
            </a:pPr>
            <a:r>
              <a:t>Cost visibility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633472"/>
            <a:ext cx="3063239" cy="217627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B7D97"/>
                </a:solidFill>
                <a:latin typeface="Aptos"/>
              </a:defRPr>
            </a:pPr>
            <a:r>
              <a:t>Understanding return patterns helps identify where efficiency improvements may be possible.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559552"/>
            <a:ext cx="1042416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2151A9"/>
                </a:solidFill>
                <a:latin typeface="Aptos"/>
              </a:defRPr>
            </a:pPr>
            <a:r>
              <a:t>Project question: Which return patterns can inform better logistics and cost-management decisions?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B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83464"/>
            <a:ext cx="82296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151A9"/>
                </a:solidFill>
                <a:latin typeface="Aptos"/>
              </a:defRPr>
            </a:pPr>
            <a:r>
              <a:t>01  /  PROJECT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94944"/>
            <a:ext cx="10972800" cy="5303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0C1C38"/>
                </a:solidFill>
                <a:latin typeface="Aptos"/>
              </a:defRPr>
            </a:pPr>
            <a:r>
              <a:t>Objectives &amp; Analytical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0972800" cy="38404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B7D97"/>
                </a:solidFill>
                <a:latin typeface="Aptos"/>
              </a:defRPr>
            </a:pPr>
            <a:r>
              <a:t>From raw transaction data to practical business recommendations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73952"/>
            <a:ext cx="11109960" cy="13716"/>
          </a:xfrm>
          <a:prstGeom prst="rect">
            <a:avLst/>
          </a:prstGeom>
          <a:solidFill>
            <a:srgbClr val="E0ED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47104"/>
            <a:ext cx="8229600" cy="182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B7D97"/>
                </a:solidFill>
                <a:latin typeface="Aptos"/>
              </a:defRPr>
            </a:pPr>
            <a:r>
              <a:t>E-COMMERCE RETURN LOGISTICS  •  DEEPA K RAJ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519672"/>
            <a:ext cx="502920" cy="2011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2151A9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984248"/>
            <a:ext cx="109728" cy="109728"/>
          </a:xfrm>
          <a:prstGeom prst="roundRect">
            <a:avLst/>
          </a:prstGeom>
          <a:solidFill>
            <a:srgbClr val="19B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88136" y="1874519"/>
            <a:ext cx="6309360" cy="31089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C1C38"/>
                </a:solidFill>
                <a:latin typeface="Aptos"/>
              </a:defRPr>
            </a:pPr>
            <a:r>
              <a:t>Understand return behavior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" y="2194560"/>
            <a:ext cx="6309360" cy="35661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B7D97"/>
                </a:solidFill>
                <a:latin typeface="Aptos"/>
              </a:defRPr>
            </a:pPr>
            <a:r>
              <a:t>Measure overall return rate and compare categories, regions and reasons.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099815"/>
            <a:ext cx="109728" cy="109728"/>
          </a:xfrm>
          <a:prstGeom prst="roundRect">
            <a:avLst/>
          </a:prstGeom>
          <a:solidFill>
            <a:srgbClr val="19B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88136" y="2990087"/>
            <a:ext cx="6309360" cy="31089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C1C38"/>
                </a:solidFill>
                <a:latin typeface="Aptos"/>
              </a:defRPr>
            </a:pPr>
            <a:r>
              <a:t>Explore cost-related indicators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" y="3310127"/>
            <a:ext cx="6309360" cy="35661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B7D97"/>
                </a:solidFill>
                <a:latin typeface="Aptos"/>
              </a:defRPr>
            </a:pPr>
            <a:r>
              <a:t>Compare recorded shipping-cost and profit-margin fields by return status.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215384"/>
            <a:ext cx="109728" cy="109728"/>
          </a:xfrm>
          <a:prstGeom prst="roundRect">
            <a:avLst/>
          </a:prstGeom>
          <a:solidFill>
            <a:srgbClr val="19B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88136" y="4105656"/>
            <a:ext cx="6309360" cy="31089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C1C38"/>
                </a:solidFill>
                <a:latin typeface="Aptos"/>
              </a:defRPr>
            </a:pPr>
            <a:r>
              <a:t>Present actionable insights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" y="4425696"/>
            <a:ext cx="6309360" cy="35661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B7D97"/>
                </a:solidFill>
                <a:latin typeface="Aptos"/>
              </a:defRPr>
            </a:pPr>
            <a:r>
              <a:t>Build Power BI dashboards and suggest targeted operational improvements.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79" y="1856231"/>
            <a:ext cx="3383280" cy="3520440"/>
          </a:xfrm>
          <a:prstGeom prst="roundRect">
            <a:avLst/>
          </a:prstGeom>
          <a:solidFill>
            <a:srgbClr val="0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21040" y="2240280"/>
            <a:ext cx="269748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9B5C1"/>
                </a:solidFill>
                <a:latin typeface="Aptos"/>
              </a:defRPr>
            </a:pPr>
            <a:r>
              <a:t>END-TO-END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779776"/>
            <a:ext cx="274320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t>Clean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364992"/>
            <a:ext cx="274320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t>Analyze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950208"/>
            <a:ext cx="274320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t>Visualize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4535424"/>
            <a:ext cx="274320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t>Recommend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B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83464"/>
            <a:ext cx="82296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151A9"/>
                </a:solidFill>
                <a:latin typeface="Aptos"/>
              </a:defRPr>
            </a:pPr>
            <a:r>
              <a:t>02  /  DATA &amp;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94944"/>
            <a:ext cx="10972800" cy="5303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0C1C38"/>
                </a:solidFill>
                <a:latin typeface="Aptos"/>
              </a:defRPr>
            </a:pPr>
            <a:r>
              <a:t>Dataset at a Glance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0972800" cy="38404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B7D97"/>
                </a:solidFill>
                <a:latin typeface="Aptos"/>
              </a:defRPr>
            </a:pPr>
            <a:r>
              <a:t>Synthetic Kaggle e-commerce orders dataset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73952"/>
            <a:ext cx="11109960" cy="13716"/>
          </a:xfrm>
          <a:prstGeom prst="rect">
            <a:avLst/>
          </a:prstGeom>
          <a:solidFill>
            <a:srgbClr val="E0ED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47104"/>
            <a:ext cx="8229600" cy="182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B7D97"/>
                </a:solidFill>
                <a:latin typeface="Aptos"/>
              </a:defRPr>
            </a:pPr>
            <a:r>
              <a:t>E-COMMERCE RETURN LOGISTICS  •  DEEPA K RAJ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519672"/>
            <a:ext cx="502920" cy="2011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2151A9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65376"/>
            <a:ext cx="256032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59" y="2002536"/>
            <a:ext cx="228600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2151A9"/>
                </a:solidFill>
                <a:latin typeface="Aptos"/>
              </a:defRPr>
            </a:pPr>
            <a:r>
              <a:t>34,500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633472"/>
            <a:ext cx="228600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B7D97"/>
                </a:solidFill>
                <a:latin typeface="Aptos"/>
              </a:defRPr>
            </a:pPr>
            <a:r>
              <a:t>Total orders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1865376"/>
            <a:ext cx="256032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47872" y="2002536"/>
            <a:ext cx="228600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2151A9"/>
                </a:solidFill>
                <a:latin typeface="Aptos"/>
              </a:defRPr>
            </a:pPr>
            <a:r>
              <a:t>1,903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2633472"/>
            <a:ext cx="228600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B7D97"/>
                </a:solidFill>
                <a:latin typeface="Aptos"/>
              </a:defRPr>
            </a:pPr>
            <a:r>
              <a:t>Returned orders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08192" y="1865376"/>
            <a:ext cx="256032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72783" y="2002536"/>
            <a:ext cx="228600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2151A9"/>
                </a:solidFill>
                <a:latin typeface="Aptos"/>
              </a:defRPr>
            </a:pPr>
            <a:r>
              <a:t>5.52%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2783" y="2633472"/>
            <a:ext cx="228600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B7D97"/>
                </a:solidFill>
                <a:latin typeface="Aptos"/>
              </a:defRPr>
            </a:pPr>
            <a:r>
              <a:t>Overall return rate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33104" y="1865376"/>
            <a:ext cx="256032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97696" y="2002536"/>
            <a:ext cx="228600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2151A9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97696" y="2633472"/>
            <a:ext cx="228600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B7D97"/>
                </a:solidFill>
                <a:latin typeface="Aptos"/>
              </a:defRPr>
            </a:pPr>
            <a:r>
              <a:t>Prepared columns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657600"/>
            <a:ext cx="512064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31520" y="3657600"/>
            <a:ext cx="68580" cy="1737360"/>
          </a:xfrm>
          <a:prstGeom prst="rect">
            <a:avLst/>
          </a:prstGeom>
          <a:solidFill>
            <a:srgbClr val="19B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50976" y="3840480"/>
            <a:ext cx="4754879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C1C38"/>
                </a:solidFill>
                <a:latin typeface="Aptos"/>
              </a:defRPr>
            </a:pPr>
            <a:r>
              <a:t>Original 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" y="4343400"/>
            <a:ext cx="4690872" cy="9875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B7D97"/>
                </a:solidFill>
                <a:latin typeface="Aptos"/>
              </a:defRPr>
            </a:pPr>
            <a:r>
              <a:t>19 columns covering products, order dates, return status, customer attributes and recorded financial fields.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99048" y="3657600"/>
            <a:ext cx="512064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099048" y="3657600"/>
            <a:ext cx="68580" cy="1737360"/>
          </a:xfrm>
          <a:prstGeom prst="rect">
            <a:avLst/>
          </a:prstGeom>
          <a:solidFill>
            <a:srgbClr val="F9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18504" y="3840480"/>
            <a:ext cx="4754879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C1C38"/>
                </a:solidFill>
                <a:latin typeface="Aptos"/>
              </a:defRPr>
            </a:pPr>
            <a:r>
              <a:t>Engineered features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18504" y="4343400"/>
            <a:ext cx="4690872" cy="9875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B7D97"/>
                </a:solidFill>
                <a:latin typeface="Aptos"/>
              </a:defRPr>
            </a:pPr>
            <a:r>
              <a:t>delivery_days, return_days and delivery_group created during Python preprocessing.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B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83464"/>
            <a:ext cx="82296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151A9"/>
                </a:solidFill>
                <a:latin typeface="Aptos"/>
              </a:defRPr>
            </a:pPr>
            <a:r>
              <a:t>02  /  DATA &amp;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94944"/>
            <a:ext cx="10972800" cy="5303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0C1C38"/>
                </a:solidFill>
                <a:latin typeface="Aptos"/>
              </a:defRPr>
            </a:pPr>
            <a:r>
              <a:t>Project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0972800" cy="38404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B7D97"/>
                </a:solidFill>
                <a:latin typeface="Aptos"/>
              </a:defRPr>
            </a:pPr>
            <a:r>
              <a:t>One cleaned dataset supports all three analytical stages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73952"/>
            <a:ext cx="11109960" cy="13716"/>
          </a:xfrm>
          <a:prstGeom prst="rect">
            <a:avLst/>
          </a:prstGeom>
          <a:solidFill>
            <a:srgbClr val="E0ED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47104"/>
            <a:ext cx="8229600" cy="182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B7D97"/>
                </a:solidFill>
                <a:latin typeface="Aptos"/>
              </a:defRPr>
            </a:pPr>
            <a:r>
              <a:t>E-COMMERCE RETURN LOGISTICS  •  DEEPA K RAJ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519672"/>
            <a:ext cx="502920" cy="2011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2151A9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148840"/>
            <a:ext cx="3136392" cy="2514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14400" y="2148840"/>
            <a:ext cx="3136392" cy="137160"/>
          </a:xfrm>
          <a:prstGeom prst="rect">
            <a:avLst/>
          </a:prstGeom>
          <a:solidFill>
            <a:srgbClr val="19B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" y="2615184"/>
            <a:ext cx="274320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0C1C38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246120"/>
            <a:ext cx="2606040" cy="1143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B7D97"/>
                </a:solidFill>
                <a:latin typeface="Aptos"/>
              </a:defRPr>
            </a:pPr>
            <a:r>
              <a:t>Clean, validate, derive fields and explore patterns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35424" y="2148840"/>
            <a:ext cx="3136392" cy="2514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35424" y="2148840"/>
            <a:ext cx="3136392" cy="137160"/>
          </a:xfrm>
          <a:prstGeom prst="rect">
            <a:avLst/>
          </a:prstGeom>
          <a:solidFill>
            <a:srgbClr val="2151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64024" y="2615184"/>
            <a:ext cx="274320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0C1C38"/>
                </a:solidFill>
                <a:latin typeface="Aptos"/>
              </a:defRPr>
            </a:pPr>
            <a:r>
              <a:t>MYSQL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64024" y="3246120"/>
            <a:ext cx="2606040" cy="1143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B7D97"/>
                </a:solidFill>
                <a:latin typeface="Aptos"/>
              </a:defRPr>
            </a:pPr>
            <a:r>
              <a:t>Store 34,500 rows and run structured SQL analysis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47304" y="2148840"/>
            <a:ext cx="3136392" cy="2514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47304" y="2148840"/>
            <a:ext cx="3136392" cy="137160"/>
          </a:xfrm>
          <a:prstGeom prst="rect">
            <a:avLst/>
          </a:prstGeom>
          <a:solidFill>
            <a:srgbClr val="F9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75904" y="2615184"/>
            <a:ext cx="274320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0C1C38"/>
                </a:solidFill>
                <a:latin typeface="Aptos"/>
              </a:defRPr>
            </a:pPr>
            <a:r>
              <a:t>POWER BI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75904" y="3246120"/>
            <a:ext cx="2606040" cy="1143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B7D97"/>
                </a:solidFill>
                <a:latin typeface="Aptos"/>
              </a:defRPr>
            </a:pPr>
            <a:r>
              <a:t>Create KPIs, slicers, charts and business recommendations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23944" y="3044952"/>
            <a:ext cx="36576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2151A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44968" y="3044952"/>
            <a:ext cx="36576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2151A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5349240"/>
            <a:ext cx="987552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2151A9"/>
                </a:solidFill>
                <a:latin typeface="Aptos"/>
              </a:defRPr>
            </a:pPr>
            <a:r>
              <a:t>Python-cleaned CSV  →  MySQL database  →  Power BI dashboard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B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83464"/>
            <a:ext cx="82296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151A9"/>
                </a:solidFill>
                <a:latin typeface="Aptos"/>
              </a:defRPr>
            </a:pPr>
            <a:r>
              <a:t>03  / 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94944"/>
            <a:ext cx="10972800" cy="5303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0C1C38"/>
                </a:solidFill>
                <a:latin typeface="Aptos"/>
              </a:defRPr>
            </a:pPr>
            <a:r>
              <a:t>Python: Preparation &amp; Exploration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0972800" cy="38404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B7D97"/>
                </a:solidFill>
                <a:latin typeface="Aptos"/>
              </a:defRPr>
            </a:pPr>
            <a:r>
              <a:t>A reliable foundation before SQL and dashboard development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73952"/>
            <a:ext cx="11109960" cy="13716"/>
          </a:xfrm>
          <a:prstGeom prst="rect">
            <a:avLst/>
          </a:prstGeom>
          <a:solidFill>
            <a:srgbClr val="E0ED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47104"/>
            <a:ext cx="8229600" cy="182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B7D97"/>
                </a:solidFill>
                <a:latin typeface="Aptos"/>
              </a:defRPr>
            </a:pPr>
            <a:r>
              <a:t>E-COMMERCE RETURN LOGISTICS  •  DEEPA K RAJ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519672"/>
            <a:ext cx="502920" cy="2011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2151A9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975104"/>
            <a:ext cx="109728" cy="109728"/>
          </a:xfrm>
          <a:prstGeom prst="roundRect">
            <a:avLst/>
          </a:prstGeom>
          <a:solidFill>
            <a:srgbClr val="19B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96696" y="1865376"/>
            <a:ext cx="6492240" cy="31089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C1C38"/>
                </a:solidFill>
                <a:latin typeface="Aptos"/>
              </a:defRPr>
            </a:pPr>
            <a:r>
              <a:t>Data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" y="2185416"/>
            <a:ext cx="6492240" cy="35661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B7D97"/>
                </a:solidFill>
                <a:latin typeface="Aptos"/>
              </a:defRPr>
            </a:pPr>
            <a:r>
              <a:t>Checked missing values and duplicates; no duplicate records were found.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852928"/>
            <a:ext cx="109728" cy="109728"/>
          </a:xfrm>
          <a:prstGeom prst="roundRect">
            <a:avLst/>
          </a:prstGeom>
          <a:solidFill>
            <a:srgbClr val="19B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96696" y="2743200"/>
            <a:ext cx="6492240" cy="31089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C1C38"/>
                </a:solidFill>
                <a:latin typeface="Aptos"/>
              </a:defRPr>
            </a:pPr>
            <a:r>
              <a:t>Date processing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3063240"/>
            <a:ext cx="6492240" cy="35661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B7D97"/>
                </a:solidFill>
                <a:latin typeface="Aptos"/>
              </a:defRPr>
            </a:pPr>
            <a:r>
              <a:t>Converted order, delivery and request dates into datetime fields.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730752"/>
            <a:ext cx="109728" cy="109728"/>
          </a:xfrm>
          <a:prstGeom prst="roundRect">
            <a:avLst/>
          </a:prstGeom>
          <a:solidFill>
            <a:srgbClr val="19B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96696" y="3621024"/>
            <a:ext cx="6492240" cy="31089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C1C38"/>
                </a:solidFill>
                <a:latin typeface="Aptos"/>
              </a:defRPr>
            </a:pPr>
            <a:r>
              <a:t>Feature engineering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" y="3941063"/>
            <a:ext cx="6492240" cy="35661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B7D97"/>
                </a:solidFill>
                <a:latin typeface="Aptos"/>
              </a:defRPr>
            </a:pPr>
            <a:r>
              <a:t>Derived delivery_days, return_days and delivery_group.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608576"/>
            <a:ext cx="109728" cy="109728"/>
          </a:xfrm>
          <a:prstGeom prst="roundRect">
            <a:avLst/>
          </a:prstGeom>
          <a:solidFill>
            <a:srgbClr val="19B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96696" y="4498848"/>
            <a:ext cx="6492240" cy="31089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C1C38"/>
                </a:solidFill>
                <a:latin typeface="Aptos"/>
              </a:defRPr>
            </a:pPr>
            <a:r>
              <a:t>Exploratory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" y="4818888"/>
            <a:ext cx="6492240" cy="35661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B7D97"/>
                </a:solidFill>
                <a:latin typeface="Aptos"/>
              </a:defRPr>
            </a:pPr>
            <a:r>
              <a:t>Compared return rates, reasons, regions, prices and shipping costs.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9560" y="1956816"/>
            <a:ext cx="3447288" cy="3447288"/>
          </a:xfrm>
          <a:prstGeom prst="roundRect">
            <a:avLst/>
          </a:prstGeom>
          <a:solidFill>
            <a:srgbClr val="0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02752" y="2386584"/>
            <a:ext cx="2697480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9B5C1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2" y="3063240"/>
            <a:ext cx="274320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34,500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3749039"/>
            <a:ext cx="274320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validated records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752" y="4416552"/>
            <a:ext cx="274320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C0DBF8"/>
                </a:solidFill>
                <a:latin typeface="Aptos"/>
              </a:defRPr>
            </a:pPr>
            <a:r>
              <a:t>ecommerce_cleaned.csv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B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83464"/>
            <a:ext cx="82296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151A9"/>
                </a:solidFill>
                <a:latin typeface="Aptos"/>
              </a:defRPr>
            </a:pPr>
            <a:r>
              <a:t>03  / 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94944"/>
            <a:ext cx="10972800" cy="5303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0C1C38"/>
                </a:solidFill>
                <a:latin typeface="Aptos"/>
              </a:defRPr>
            </a:pPr>
            <a:r>
              <a:t>MySQL: Structured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0972800" cy="38404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B7D97"/>
                </a:solidFill>
                <a:latin typeface="Aptos"/>
              </a:defRPr>
            </a:pPr>
            <a:r>
              <a:t>Database: ecommerce_returns  •  Table: ecommerce_data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73952"/>
            <a:ext cx="11109960" cy="13716"/>
          </a:xfrm>
          <a:prstGeom prst="rect">
            <a:avLst/>
          </a:prstGeom>
          <a:solidFill>
            <a:srgbClr val="E0ED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47104"/>
            <a:ext cx="8229600" cy="182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B7D97"/>
                </a:solidFill>
                <a:latin typeface="Aptos"/>
              </a:defRPr>
            </a:pPr>
            <a:r>
              <a:t>E-COMMERCE RETURN LOGISTICS  •  DEEPA K RAJ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519672"/>
            <a:ext cx="502920" cy="2011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2151A9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029968"/>
            <a:ext cx="109728" cy="109728"/>
          </a:xfrm>
          <a:prstGeom prst="roundRect">
            <a:avLst/>
          </a:prstGeom>
          <a:solidFill>
            <a:srgbClr val="19B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96696" y="1920240"/>
            <a:ext cx="6675120" cy="31089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C1C38"/>
                </a:solidFill>
                <a:latin typeface="Aptos"/>
              </a:defRPr>
            </a:pPr>
            <a:r>
              <a:t>Data import &amp; verification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" y="2240280"/>
            <a:ext cx="6675120" cy="35661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B7D97"/>
                </a:solidFill>
                <a:latin typeface="Aptos"/>
              </a:defRPr>
            </a:pPr>
            <a:r>
              <a:t>Confirmed all 34,500 cleaned records were available for SQL analysis.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099816"/>
            <a:ext cx="109728" cy="109728"/>
          </a:xfrm>
          <a:prstGeom prst="roundRect">
            <a:avLst/>
          </a:prstGeom>
          <a:solidFill>
            <a:srgbClr val="19B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96696" y="2990088"/>
            <a:ext cx="6675120" cy="31089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C1C38"/>
                </a:solidFill>
                <a:latin typeface="Aptos"/>
              </a:defRPr>
            </a:pPr>
            <a:r>
              <a:t>Return 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3310128"/>
            <a:ext cx="6675120" cy="35661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B7D97"/>
                </a:solidFill>
                <a:latin typeface="Aptos"/>
              </a:defRPr>
            </a:pPr>
            <a:r>
              <a:t>Calculated order counts, return rates and category-level comparisons.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169663"/>
            <a:ext cx="109728" cy="109728"/>
          </a:xfrm>
          <a:prstGeom prst="roundRect">
            <a:avLst/>
          </a:prstGeom>
          <a:solidFill>
            <a:srgbClr val="19B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96696" y="4059935"/>
            <a:ext cx="6675120" cy="31089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C1C38"/>
                </a:solidFill>
                <a:latin typeface="Aptos"/>
              </a:defRPr>
            </a:pPr>
            <a:r>
              <a:t>Return reasons &amp; financial fields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" y="4379975"/>
            <a:ext cx="6675120" cy="35661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B7D97"/>
                </a:solidFill>
                <a:latin typeface="Aptos"/>
              </a:defRPr>
            </a:pPr>
            <a:r>
              <a:t>Analyzed reported reasons, shipping costs, profit-margin values and prices.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2148840"/>
            <a:ext cx="3246120" cy="2926080"/>
          </a:xfrm>
          <a:prstGeom prst="roundRect">
            <a:avLst/>
          </a:prstGeom>
          <a:solidFill>
            <a:srgbClr val="0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21040" y="2514600"/>
            <a:ext cx="274320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9B5C1"/>
                </a:solidFill>
                <a:latin typeface="Aptos"/>
              </a:defRPr>
            </a:pPr>
            <a:r>
              <a:t>EXAMPLE QUERY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054096"/>
            <a:ext cx="2697480" cy="1600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SELECT returned,</a:t>
            </a:r>
          </a:p>
          <a:p>
            <a:pPr>
              <a:spcAft>
                <a:spcPts val="8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COUNT(*) AS orders</a:t>
            </a:r>
          </a:p>
          <a:p>
            <a:pPr>
              <a:spcAft>
                <a:spcPts val="8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FROM ecommerce_data</a:t>
            </a:r>
          </a:p>
          <a:p>
            <a:pPr>
              <a:spcAft>
                <a:spcPts val="8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GROUP BY returned;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B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83464"/>
            <a:ext cx="82296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151A9"/>
                </a:solidFill>
                <a:latin typeface="Aptos"/>
              </a:defRPr>
            </a:pPr>
            <a:r>
              <a:t>04  / 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94944"/>
            <a:ext cx="10972800" cy="5303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0C1C38"/>
                </a:solidFill>
                <a:latin typeface="Aptos"/>
              </a:defRPr>
            </a:pPr>
            <a:r>
              <a:t>Power BI: Executive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0972800" cy="38404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B7D97"/>
                </a:solidFill>
                <a:latin typeface="Aptos"/>
              </a:defRPr>
            </a:pPr>
            <a:r>
              <a:t>Key KPIs and return-rate comparisons in one interactive 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73952"/>
            <a:ext cx="11109960" cy="13716"/>
          </a:xfrm>
          <a:prstGeom prst="rect">
            <a:avLst/>
          </a:prstGeom>
          <a:solidFill>
            <a:srgbClr val="E0ED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47104"/>
            <a:ext cx="8229600" cy="182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B7D97"/>
                </a:solidFill>
                <a:latin typeface="Aptos"/>
              </a:defRPr>
            </a:pPr>
            <a:r>
              <a:t>E-COMMERCE RETURN LOGISTICS  •  DEEPA K RAJ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519672"/>
            <a:ext cx="502920" cy="2011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2151A9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7784" y="1810512"/>
            <a:ext cx="7525512" cy="4233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(20261010-165723).png"/>
          <p:cNvPicPr>
            <a:picLocks noChangeAspect="1"/>
          </p:cNvPicPr>
          <p:nvPr/>
        </p:nvPicPr>
        <p:blipFill rotWithShape="1">
          <a:blip r:embed="rId2"/>
          <a:srcRect l="2880" t="20013" r="28961" b="5267"/>
          <a:stretch/>
        </p:blipFill>
        <p:spPr>
          <a:xfrm>
            <a:off x="425885" y="1762570"/>
            <a:ext cx="7729127" cy="441276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321040" y="2057400"/>
            <a:ext cx="324612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321040" y="2057400"/>
            <a:ext cx="68580" cy="1600200"/>
          </a:xfrm>
          <a:prstGeom prst="rect">
            <a:avLst/>
          </a:prstGeom>
          <a:solidFill>
            <a:srgbClr val="19B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40496" y="2240280"/>
            <a:ext cx="288036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C1C38"/>
                </a:solidFill>
                <a:latin typeface="Aptos"/>
              </a:defRPr>
            </a:pPr>
            <a:r>
              <a:t>5 KPI cards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0496" y="2743200"/>
            <a:ext cx="2816352" cy="85039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B7D97"/>
                </a:solidFill>
                <a:latin typeface="Aptos"/>
              </a:defRPr>
            </a:pPr>
            <a:r>
              <a:t>Orders, returns, return rate, shipping cost and profit margin.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3904487"/>
            <a:ext cx="324612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321040" y="3904487"/>
            <a:ext cx="68580" cy="1600200"/>
          </a:xfrm>
          <a:prstGeom prst="rect">
            <a:avLst/>
          </a:prstGeom>
          <a:solidFill>
            <a:srgbClr val="F9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40496" y="4087368"/>
            <a:ext cx="288036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C1C38"/>
                </a:solidFill>
                <a:latin typeface="Aptos"/>
              </a:defRPr>
            </a:pPr>
            <a:r>
              <a:t>Interactive filters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0496" y="4590288"/>
            <a:ext cx="2816352" cy="85039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B7D97"/>
                </a:solidFill>
                <a:latin typeface="Aptos"/>
              </a:defRPr>
            </a:pPr>
            <a:r>
              <a:t>Category, region and order-date slicers.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B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83464"/>
            <a:ext cx="82296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151A9"/>
                </a:solidFill>
                <a:latin typeface="Aptos"/>
              </a:defRPr>
            </a:pPr>
            <a:r>
              <a:t>04  / 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94944"/>
            <a:ext cx="10972800" cy="5303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0C1C38"/>
                </a:solidFill>
                <a:latin typeface="Aptos"/>
              </a:defRPr>
            </a:pPr>
            <a:r>
              <a:t>Power BI: Return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0972800" cy="38404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B7D97"/>
                </a:solidFill>
                <a:latin typeface="Aptos"/>
              </a:defRPr>
            </a:pPr>
            <a:r>
              <a:t>Understanding why and where returns occur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73952"/>
            <a:ext cx="11109960" cy="13716"/>
          </a:xfrm>
          <a:prstGeom prst="rect">
            <a:avLst/>
          </a:prstGeom>
          <a:solidFill>
            <a:srgbClr val="E0ED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47104"/>
            <a:ext cx="8229600" cy="182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B7D97"/>
                </a:solidFill>
                <a:latin typeface="Aptos"/>
              </a:defRPr>
            </a:pPr>
            <a:r>
              <a:t>E-COMMERCE RETURN LOGISTICS  •  DEEPA K RAJ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519672"/>
            <a:ext cx="502920" cy="2011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2151A9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7784" y="1810512"/>
            <a:ext cx="7525512" cy="4233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(20261010-165912).png"/>
          <p:cNvPicPr>
            <a:picLocks noChangeAspect="1"/>
          </p:cNvPicPr>
          <p:nvPr/>
        </p:nvPicPr>
        <p:blipFill rotWithShape="1">
          <a:blip r:embed="rId2"/>
          <a:srcRect l="4295" t="18555" r="29650"/>
          <a:stretch/>
        </p:blipFill>
        <p:spPr>
          <a:xfrm>
            <a:off x="474255" y="1651384"/>
            <a:ext cx="7609042" cy="4649207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321040" y="1965960"/>
            <a:ext cx="324612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321040" y="1965960"/>
            <a:ext cx="68580" cy="1600200"/>
          </a:xfrm>
          <a:prstGeom prst="rect">
            <a:avLst/>
          </a:prstGeom>
          <a:solidFill>
            <a:srgbClr val="19B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40496" y="2148840"/>
            <a:ext cx="288036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C1C38"/>
                </a:solidFill>
                <a:latin typeface="Aptos"/>
              </a:defRPr>
            </a:pPr>
            <a:r>
              <a:t>Return reasons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0496" y="2651760"/>
            <a:ext cx="2816352" cy="85039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B7D97"/>
                </a:solidFill>
                <a:latin typeface="Aptos"/>
              </a:defRPr>
            </a:pPr>
            <a:r>
              <a:t>“Not as described” leads with 490 returns (25.75%).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3877056"/>
            <a:ext cx="324612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321040" y="3877056"/>
            <a:ext cx="68580" cy="1600200"/>
          </a:xfrm>
          <a:prstGeom prst="rect">
            <a:avLst/>
          </a:prstGeom>
          <a:solidFill>
            <a:srgbClr val="F9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40496" y="4059936"/>
            <a:ext cx="288036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C1C38"/>
                </a:solidFill>
                <a:latin typeface="Aptos"/>
              </a:defRPr>
            </a:pPr>
            <a:r>
              <a:t>Price &amp; delivery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0496" y="4562856"/>
            <a:ext cx="2816352" cy="85039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B7D97"/>
                </a:solidFill>
                <a:latin typeface="Aptos"/>
              </a:defRPr>
            </a:pPr>
            <a:r>
              <a:t>Return rates by price band and delivery-duration group.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B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83464"/>
            <a:ext cx="82296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151A9"/>
                </a:solidFill>
                <a:latin typeface="Aptos"/>
              </a:defRPr>
            </a:pPr>
            <a:r>
              <a:t>04  / 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94944"/>
            <a:ext cx="10972800" cy="5303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0C1C38"/>
                </a:solidFill>
                <a:latin typeface="Aptos"/>
              </a:defRPr>
            </a:pPr>
            <a:r>
              <a:t>Power BI: Cost &amp; Profitability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0972800" cy="38404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B7D97"/>
                </a:solidFill>
                <a:latin typeface="Aptos"/>
              </a:defRPr>
            </a:pPr>
            <a:r>
              <a:t>Descriptive comparisons of recorded dataset fields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73952"/>
            <a:ext cx="11109960" cy="13716"/>
          </a:xfrm>
          <a:prstGeom prst="rect">
            <a:avLst/>
          </a:prstGeom>
          <a:solidFill>
            <a:srgbClr val="E0ED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47104"/>
            <a:ext cx="8229600" cy="182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B7D97"/>
                </a:solidFill>
                <a:latin typeface="Aptos"/>
              </a:defRPr>
            </a:pPr>
            <a:r>
              <a:t>E-COMMERCE RETURN LOGISTICS  •  DEEPA K RAJ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519672"/>
            <a:ext cx="502920" cy="2011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2151A9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7784" y="1810512"/>
            <a:ext cx="7525512" cy="4233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(20261010-165942).png"/>
          <p:cNvPicPr>
            <a:picLocks noChangeAspect="1"/>
          </p:cNvPicPr>
          <p:nvPr/>
        </p:nvPicPr>
        <p:blipFill rotWithShape="1">
          <a:blip r:embed="rId2"/>
          <a:srcRect l="3958" t="19964" r="29481" b="2632"/>
          <a:stretch/>
        </p:blipFill>
        <p:spPr>
          <a:xfrm>
            <a:off x="566928" y="1811306"/>
            <a:ext cx="7534655" cy="423287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321040" y="1938528"/>
            <a:ext cx="3246120" cy="16276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321040" y="1938528"/>
            <a:ext cx="68580" cy="1627632"/>
          </a:xfrm>
          <a:prstGeom prst="rect">
            <a:avLst/>
          </a:prstGeom>
          <a:solidFill>
            <a:srgbClr val="19B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40496" y="2121408"/>
            <a:ext cx="288036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C1C38"/>
                </a:solidFill>
                <a:latin typeface="Aptos"/>
              </a:defRPr>
            </a:pPr>
            <a:r>
              <a:t>Shipping-cost comparison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0496" y="2624328"/>
            <a:ext cx="2816352" cy="87782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B7D97"/>
                </a:solidFill>
                <a:latin typeface="Aptos"/>
              </a:defRPr>
            </a:pPr>
            <a:r>
              <a:t>Returned: 6.63  |  Non-returned: 6.12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3877056"/>
            <a:ext cx="324612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321040" y="3877056"/>
            <a:ext cx="68580" cy="1645920"/>
          </a:xfrm>
          <a:prstGeom prst="rect">
            <a:avLst/>
          </a:prstGeom>
          <a:solidFill>
            <a:srgbClr val="F9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40496" y="4059936"/>
            <a:ext cx="288036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C1C38"/>
                </a:solidFill>
                <a:latin typeface="Aptos"/>
              </a:defRPr>
            </a:pPr>
            <a:r>
              <a:t>Interpret with care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0496" y="4562856"/>
            <a:ext cx="2816352" cy="89611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B7D97"/>
                </a:solidFill>
                <a:latin typeface="Aptos"/>
              </a:defRPr>
            </a:pPr>
            <a:r>
              <a:t>These values are not actual return-processing costs.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B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83464"/>
            <a:ext cx="82296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151A9"/>
                </a:solidFill>
                <a:latin typeface="Aptos"/>
              </a:defRPr>
            </a:pPr>
            <a:r>
              <a:t>05  / 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94944"/>
            <a:ext cx="10972800" cy="5303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0C1C38"/>
                </a:solidFill>
                <a:latin typeface="Aptos"/>
              </a:defRPr>
            </a:pPr>
            <a:r>
              <a:t>Where Are Returns Concentrated?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0972800" cy="38404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B7D97"/>
                </a:solidFill>
                <a:latin typeface="Aptos"/>
              </a:defRPr>
            </a:pPr>
            <a:r>
              <a:t>Category-level return rates from the analyzed dataset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73952"/>
            <a:ext cx="11109960" cy="13716"/>
          </a:xfrm>
          <a:prstGeom prst="rect">
            <a:avLst/>
          </a:prstGeom>
          <a:solidFill>
            <a:srgbClr val="E0ED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47104"/>
            <a:ext cx="8229600" cy="182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B7D97"/>
                </a:solidFill>
                <a:latin typeface="Aptos"/>
              </a:defRPr>
            </a:pPr>
            <a:r>
              <a:t>E-COMMERCE RETURN LOGISTICS  •  DEEPA K RAJ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519672"/>
            <a:ext cx="502920" cy="2011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2151A9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47088"/>
            <a:ext cx="192024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C1C38"/>
                </a:solidFill>
                <a:latin typeface="Aptos"/>
              </a:defRPr>
            </a:pPr>
            <a:r>
              <a:t>Fashion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1874519"/>
            <a:ext cx="6949440" cy="283464"/>
          </a:xfrm>
          <a:prstGeom prst="roundRect">
            <a:avLst/>
          </a:prstGeom>
          <a:solidFill>
            <a:srgbClr val="E0ED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788920" y="1874519"/>
            <a:ext cx="6393484" cy="283464"/>
          </a:xfrm>
          <a:prstGeom prst="roundRect">
            <a:avLst/>
          </a:prstGeom>
          <a:solidFill>
            <a:srgbClr val="19B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939528" y="1847088"/>
            <a:ext cx="11430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151A9"/>
                </a:solidFill>
                <a:latin typeface="Aptos"/>
              </a:defRPr>
            </a:pPr>
            <a:r>
              <a:t>8.28%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404872"/>
            <a:ext cx="192024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C1C38"/>
                </a:solidFill>
                <a:latin typeface="Aptos"/>
              </a:defRPr>
            </a:pPr>
            <a:r>
              <a:t>Electronics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88920" y="2432303"/>
            <a:ext cx="6949440" cy="283464"/>
          </a:xfrm>
          <a:prstGeom prst="roundRect">
            <a:avLst/>
          </a:prstGeom>
          <a:solidFill>
            <a:srgbClr val="E0ED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788920" y="2432303"/>
            <a:ext cx="5636768" cy="283464"/>
          </a:xfrm>
          <a:prstGeom prst="roundRect">
            <a:avLst/>
          </a:prstGeom>
          <a:solidFill>
            <a:srgbClr val="19B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939528" y="2404872"/>
            <a:ext cx="11430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151A9"/>
                </a:solidFill>
                <a:latin typeface="Aptos"/>
              </a:defRPr>
            </a:pPr>
            <a:r>
              <a:t>7.30%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2962656"/>
            <a:ext cx="192024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C1C38"/>
                </a:solidFill>
                <a:latin typeface="Aptos"/>
              </a:defRPr>
            </a:pPr>
            <a:r>
              <a:t>Home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88920" y="2990088"/>
            <a:ext cx="6949440" cy="283464"/>
          </a:xfrm>
          <a:prstGeom prst="roundRect">
            <a:avLst/>
          </a:prstGeom>
          <a:solidFill>
            <a:srgbClr val="E0ED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2788920" y="2990088"/>
            <a:ext cx="4362704" cy="283464"/>
          </a:xfrm>
          <a:prstGeom prst="roundRect">
            <a:avLst/>
          </a:prstGeom>
          <a:solidFill>
            <a:srgbClr val="2151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939528" y="2962656"/>
            <a:ext cx="11430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151A9"/>
                </a:solidFill>
                <a:latin typeface="Aptos"/>
              </a:defRPr>
            </a:pPr>
            <a:r>
              <a:t>5.65%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520440"/>
            <a:ext cx="192024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C1C38"/>
                </a:solidFill>
                <a:latin typeface="Aptos"/>
              </a:defRPr>
            </a:pPr>
            <a:r>
              <a:t>Toys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88920" y="3547872"/>
            <a:ext cx="6949440" cy="283464"/>
          </a:xfrm>
          <a:prstGeom prst="roundRect">
            <a:avLst/>
          </a:prstGeom>
          <a:solidFill>
            <a:srgbClr val="E0ED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2788920" y="3547872"/>
            <a:ext cx="3814470" cy="283464"/>
          </a:xfrm>
          <a:prstGeom prst="roundRect">
            <a:avLst/>
          </a:prstGeom>
          <a:solidFill>
            <a:srgbClr val="2151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939528" y="3520440"/>
            <a:ext cx="11430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151A9"/>
                </a:solidFill>
                <a:latin typeface="Aptos"/>
              </a:defRPr>
            </a:pPr>
            <a:r>
              <a:t>4.94%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078224"/>
            <a:ext cx="192024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C1C38"/>
                </a:solidFill>
                <a:latin typeface="Aptos"/>
              </a:defRPr>
            </a:pPr>
            <a:r>
              <a:t>Sports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88920" y="4105656"/>
            <a:ext cx="6949440" cy="283464"/>
          </a:xfrm>
          <a:prstGeom prst="roundRect">
            <a:avLst/>
          </a:prstGeom>
          <a:solidFill>
            <a:srgbClr val="E0ED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2788920" y="4105656"/>
            <a:ext cx="3814470" cy="283464"/>
          </a:xfrm>
          <a:prstGeom prst="roundRect">
            <a:avLst/>
          </a:prstGeom>
          <a:solidFill>
            <a:srgbClr val="2151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939528" y="4078224"/>
            <a:ext cx="11430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151A9"/>
                </a:solidFill>
                <a:latin typeface="Aptos"/>
              </a:defRPr>
            </a:pPr>
            <a:r>
              <a:t>4.94%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636008"/>
            <a:ext cx="192024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C1C38"/>
                </a:solidFill>
                <a:latin typeface="Aptos"/>
              </a:defRPr>
            </a:pPr>
            <a:r>
              <a:t>Beauty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88920" y="4663440"/>
            <a:ext cx="6949440" cy="283464"/>
          </a:xfrm>
          <a:prstGeom prst="roundRect">
            <a:avLst/>
          </a:prstGeom>
          <a:solidFill>
            <a:srgbClr val="E0ED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2788920" y="4663440"/>
            <a:ext cx="2918764" cy="283464"/>
          </a:xfrm>
          <a:prstGeom prst="roundRect">
            <a:avLst/>
          </a:prstGeom>
          <a:solidFill>
            <a:srgbClr val="2151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939528" y="4636008"/>
            <a:ext cx="11430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151A9"/>
                </a:solidFill>
                <a:latin typeface="Aptos"/>
              </a:defRPr>
            </a:pPr>
            <a:r>
              <a:t>3.78%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193792"/>
            <a:ext cx="192024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C1C38"/>
                </a:solidFill>
                <a:latin typeface="Aptos"/>
              </a:defRPr>
            </a:pPr>
            <a:r>
              <a:t>Grocery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88920" y="5221224"/>
            <a:ext cx="6949440" cy="283464"/>
          </a:xfrm>
          <a:prstGeom prst="roundRect">
            <a:avLst/>
          </a:prstGeom>
          <a:solidFill>
            <a:srgbClr val="E0ED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2788920" y="5221224"/>
            <a:ext cx="1011529" cy="283464"/>
          </a:xfrm>
          <a:prstGeom prst="roundRect">
            <a:avLst/>
          </a:prstGeom>
          <a:solidFill>
            <a:srgbClr val="2151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939528" y="5193792"/>
            <a:ext cx="11430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151A9"/>
                </a:solidFill>
                <a:latin typeface="Aptos"/>
              </a:defRPr>
            </a:pPr>
            <a:r>
              <a:t>1.31%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7552" y="5980176"/>
            <a:ext cx="10424160" cy="31089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C1C38"/>
                </a:solidFill>
                <a:latin typeface="Aptos"/>
              </a:defRPr>
            </a:pPr>
            <a:r>
              <a:t>Fashion and Electronics are priority categories for further investigation.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B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83464"/>
            <a:ext cx="82296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151A9"/>
                </a:solidFill>
                <a:latin typeface="Aptos"/>
              </a:defRPr>
            </a:pPr>
            <a:r>
              <a:t>05  / 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94944"/>
            <a:ext cx="10972800" cy="5303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0C1C38"/>
                </a:solidFill>
                <a:latin typeface="Aptos"/>
              </a:defRPr>
            </a:pPr>
            <a:r>
              <a:t>Why Do Customers Return Products?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0972800" cy="38404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B7D97"/>
                </a:solidFill>
                <a:latin typeface="Aptos"/>
              </a:defRPr>
            </a:pPr>
            <a:r>
              <a:t>Reported return reasons among 1,903 returned orders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73952"/>
            <a:ext cx="11109960" cy="13716"/>
          </a:xfrm>
          <a:prstGeom prst="rect">
            <a:avLst/>
          </a:prstGeom>
          <a:solidFill>
            <a:srgbClr val="E0ED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47104"/>
            <a:ext cx="8229600" cy="182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B7D97"/>
                </a:solidFill>
                <a:latin typeface="Aptos"/>
              </a:defRPr>
            </a:pPr>
            <a:r>
              <a:t>E-COMMERCE RETURN LOGISTICS  •  DEEPA K RAJ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519672"/>
            <a:ext cx="502920" cy="2011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2151A9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1892807"/>
            <a:ext cx="1037844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41248" y="1892807"/>
            <a:ext cx="77724" cy="566928"/>
          </a:xfrm>
          <a:prstGeom prst="rect">
            <a:avLst/>
          </a:prstGeom>
          <a:solidFill>
            <a:srgbClr val="19B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1993391"/>
            <a:ext cx="4937760" cy="32918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C1C38"/>
                </a:solidFill>
                <a:latin typeface="Aptos"/>
              </a:defRPr>
            </a:pPr>
            <a:r>
              <a:t>Not as described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1984248"/>
            <a:ext cx="1463040" cy="34747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151A9"/>
                </a:solidFill>
                <a:latin typeface="Aptos"/>
              </a:defRPr>
            </a:pPr>
            <a:r>
              <a:t>490 orders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1984248"/>
            <a:ext cx="1325880" cy="34747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C1C38"/>
                </a:solidFill>
                <a:latin typeface="Aptos"/>
              </a:defRPr>
            </a:pPr>
            <a:r>
              <a:t>25.75%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2624328"/>
            <a:ext cx="1037844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41248" y="2624328"/>
            <a:ext cx="77724" cy="566928"/>
          </a:xfrm>
          <a:prstGeom prst="rect">
            <a:avLst/>
          </a:prstGeom>
          <a:solidFill>
            <a:srgbClr val="2151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2724912"/>
            <a:ext cx="4937760" cy="32918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C1C38"/>
                </a:solidFill>
                <a:latin typeface="Aptos"/>
              </a:defRPr>
            </a:pPr>
            <a:r>
              <a:t>No longer needed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2715768"/>
            <a:ext cx="1463040" cy="34747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151A9"/>
                </a:solidFill>
                <a:latin typeface="Aptos"/>
              </a:defRPr>
            </a:pPr>
            <a:r>
              <a:t>481 orders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2715768"/>
            <a:ext cx="1325880" cy="34747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C1C38"/>
                </a:solidFill>
                <a:latin typeface="Aptos"/>
              </a:defRPr>
            </a:pPr>
            <a:r>
              <a:t>25.28%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3355848"/>
            <a:ext cx="1037844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41248" y="3355848"/>
            <a:ext cx="77724" cy="566928"/>
          </a:xfrm>
          <a:prstGeom prst="rect">
            <a:avLst/>
          </a:prstGeom>
          <a:solidFill>
            <a:srgbClr val="2151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97280" y="3456432"/>
            <a:ext cx="4937760" cy="32918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C1C38"/>
                </a:solidFill>
                <a:latin typeface="Aptos"/>
              </a:defRPr>
            </a:pPr>
            <a:r>
              <a:t>Defective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3447288"/>
            <a:ext cx="1463040" cy="34747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151A9"/>
                </a:solidFill>
                <a:latin typeface="Aptos"/>
              </a:defRPr>
            </a:pPr>
            <a:r>
              <a:t>465 orders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3447288"/>
            <a:ext cx="1325880" cy="34747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C1C38"/>
                </a:solidFill>
                <a:latin typeface="Aptos"/>
              </a:defRPr>
            </a:pPr>
            <a:r>
              <a:t>24.44%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8" y="4087368"/>
            <a:ext cx="1037844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41248" y="4087368"/>
            <a:ext cx="77724" cy="566928"/>
          </a:xfrm>
          <a:prstGeom prst="rect">
            <a:avLst/>
          </a:prstGeom>
          <a:solidFill>
            <a:srgbClr val="2151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7280" y="4187952"/>
            <a:ext cx="4937760" cy="32918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C1C38"/>
                </a:solidFill>
                <a:latin typeface="Aptos"/>
              </a:defRPr>
            </a:pPr>
            <a:r>
              <a:t>Missing / wrong item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4178808"/>
            <a:ext cx="1463040" cy="34747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151A9"/>
                </a:solidFill>
                <a:latin typeface="Aptos"/>
              </a:defRPr>
            </a:pPr>
            <a:r>
              <a:t>439 orders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4178808"/>
            <a:ext cx="1325880" cy="34747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C1C38"/>
                </a:solidFill>
                <a:latin typeface="Aptos"/>
              </a:defRPr>
            </a:pPr>
            <a:r>
              <a:t>23.07%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1248" y="4818888"/>
            <a:ext cx="1037844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41248" y="4818888"/>
            <a:ext cx="77724" cy="566928"/>
          </a:xfrm>
          <a:prstGeom prst="rect">
            <a:avLst/>
          </a:prstGeom>
          <a:solidFill>
            <a:srgbClr val="2151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97280" y="4919472"/>
            <a:ext cx="4937760" cy="32918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C1C38"/>
                </a:solidFill>
                <a:latin typeface="Aptos"/>
              </a:defRPr>
            </a:pPr>
            <a:r>
              <a:t>Slow delivery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4910327"/>
            <a:ext cx="1463040" cy="34747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151A9"/>
                </a:solidFill>
                <a:latin typeface="Aptos"/>
              </a:defRPr>
            </a:pPr>
            <a:r>
              <a:t>28 orders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0" y="4910327"/>
            <a:ext cx="1325880" cy="34747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C1C38"/>
                </a:solidFill>
                <a:latin typeface="Aptos"/>
              </a:defRPr>
            </a:pPr>
            <a:r>
              <a:t>1.47%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5897880"/>
            <a:ext cx="10058400" cy="33832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6B7D97"/>
                </a:solidFill>
                <a:latin typeface="Aptos"/>
              </a:defRPr>
            </a:pPr>
            <a:r>
              <a:t>Return reasons are customer-reported categories, not independently verified root causes.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B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83464"/>
            <a:ext cx="82296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151A9"/>
                </a:solidFill>
                <a:latin typeface="Aptos"/>
              </a:defRPr>
            </a:pPr>
            <a:r>
              <a:t>06  / 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94944"/>
            <a:ext cx="10972800" cy="5303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0C1C38"/>
                </a:solidFill>
                <a:latin typeface="Aptos"/>
              </a:defRPr>
            </a:pPr>
            <a:r>
              <a:t>Executive Recommendations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0972800" cy="38404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B7D97"/>
                </a:solidFill>
                <a:latin typeface="Aptos"/>
              </a:defRPr>
            </a:pPr>
            <a:r>
              <a:t>Operational actions informed by the observed patterns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73952"/>
            <a:ext cx="11109960" cy="13716"/>
          </a:xfrm>
          <a:prstGeom prst="rect">
            <a:avLst/>
          </a:prstGeom>
          <a:solidFill>
            <a:srgbClr val="E0ED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47104"/>
            <a:ext cx="8229600" cy="182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B7D97"/>
                </a:solidFill>
                <a:latin typeface="Aptos"/>
              </a:defRPr>
            </a:pPr>
            <a:r>
              <a:t>E-COMMERCE RETURN LOGISTICS  •  DEEPA K RAJ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519672"/>
            <a:ext cx="502920" cy="2011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2151A9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874519"/>
            <a:ext cx="5349240" cy="1673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14400" y="2112263"/>
            <a:ext cx="566928" cy="566928"/>
          </a:xfrm>
          <a:prstGeom prst="roundRect">
            <a:avLst/>
          </a:prstGeom>
          <a:solidFill>
            <a:srgbClr val="2151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2194560"/>
            <a:ext cx="402336" cy="32918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093976"/>
            <a:ext cx="4160520" cy="39319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C1C38"/>
                </a:solidFill>
                <a:latin typeface="Aptos"/>
              </a:defRPr>
            </a:pPr>
            <a:r>
              <a:t>Improve product information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624327"/>
            <a:ext cx="4114800" cy="6583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B7D97"/>
                </a:solidFill>
                <a:latin typeface="Aptos"/>
              </a:defRPr>
            </a:pPr>
            <a:r>
              <a:t>Better descriptions, images, specifications and sizing guidance.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874519"/>
            <a:ext cx="5349240" cy="1673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583680" y="2112263"/>
            <a:ext cx="566928" cy="566928"/>
          </a:xfrm>
          <a:prstGeom prst="roundRect">
            <a:avLst/>
          </a:prstGeom>
          <a:solidFill>
            <a:srgbClr val="2151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75120" y="2194560"/>
            <a:ext cx="402336" cy="32918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2093976"/>
            <a:ext cx="4160520" cy="39319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C1C38"/>
                </a:solidFill>
                <a:latin typeface="Aptos"/>
              </a:defRPr>
            </a:pPr>
            <a:r>
              <a:t>Focus on high-return categories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624327"/>
            <a:ext cx="4114800" cy="6583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B7D97"/>
                </a:solidFill>
                <a:latin typeface="Aptos"/>
              </a:defRPr>
            </a:pPr>
            <a:r>
              <a:t>Investigate Fashion and Electronics product and fulfillment issues.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840479"/>
            <a:ext cx="5349240" cy="1673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14400" y="4078223"/>
            <a:ext cx="566928" cy="566928"/>
          </a:xfrm>
          <a:prstGeom prst="roundRect">
            <a:avLst/>
          </a:prstGeom>
          <a:solidFill>
            <a:srgbClr val="2151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" y="4160519"/>
            <a:ext cx="402336" cy="32918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4059935"/>
            <a:ext cx="4160520" cy="39319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C1C38"/>
                </a:solidFill>
                <a:latin typeface="Aptos"/>
              </a:defRPr>
            </a:pPr>
            <a:r>
              <a:t>Strengthen order accuracy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590288"/>
            <a:ext cx="4114800" cy="6583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B7D97"/>
                </a:solidFill>
                <a:latin typeface="Aptos"/>
              </a:defRPr>
            </a:pPr>
            <a:r>
              <a:t>Improve quality checks, packing verification and defect prevention.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3840479"/>
            <a:ext cx="5349240" cy="1673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583680" y="4078223"/>
            <a:ext cx="566928" cy="566928"/>
          </a:xfrm>
          <a:prstGeom prst="roundRect">
            <a:avLst/>
          </a:prstGeom>
          <a:solidFill>
            <a:srgbClr val="2151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75120" y="4160519"/>
            <a:ext cx="402336" cy="32918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4059935"/>
            <a:ext cx="4160520" cy="39319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C1C38"/>
                </a:solidFill>
                <a:latin typeface="Aptos"/>
              </a:defRPr>
            </a:pPr>
            <a:r>
              <a:t>Review shipping efficiency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4590288"/>
            <a:ext cx="4114800" cy="6583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B7D97"/>
                </a:solidFill>
                <a:latin typeface="Aptos"/>
              </a:defRPr>
            </a:pPr>
            <a:r>
              <a:t>Assess packaging, delivery practices and logistics-provider performance.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B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83464"/>
            <a:ext cx="82296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151A9"/>
                </a:solidFill>
                <a:latin typeface="Aptos"/>
              </a:defRPr>
            </a:pPr>
            <a:r>
              <a:t>07  / 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94944"/>
            <a:ext cx="10972800" cy="5303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0C1C38"/>
                </a:solidFill>
                <a:latin typeface="Aptos"/>
              </a:defRPr>
            </a:pPr>
            <a:r>
              <a:t>Limitations &amp; Future Opportunities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0972800" cy="38404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B7D97"/>
                </a:solidFill>
                <a:latin typeface="Aptos"/>
              </a:defRPr>
            </a:pPr>
            <a:r>
              <a:t>Responsible interpretation and next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73952"/>
            <a:ext cx="11109960" cy="13716"/>
          </a:xfrm>
          <a:prstGeom prst="rect">
            <a:avLst/>
          </a:prstGeom>
          <a:solidFill>
            <a:srgbClr val="E0ED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47104"/>
            <a:ext cx="8229600" cy="182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B7D97"/>
                </a:solidFill>
                <a:latin typeface="Aptos"/>
              </a:defRPr>
            </a:pPr>
            <a:r>
              <a:t>E-COMMERCE RETURN LOGISTICS  •  DEEPA K RAJ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519672"/>
            <a:ext cx="502920" cy="2011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2151A9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47088"/>
            <a:ext cx="5276088" cy="33284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1847088"/>
            <a:ext cx="68580" cy="3328416"/>
          </a:xfrm>
          <a:prstGeom prst="rect">
            <a:avLst/>
          </a:prstGeom>
          <a:solidFill>
            <a:srgbClr val="19B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05256" y="2029968"/>
            <a:ext cx="4910327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C1C38"/>
                </a:solidFill>
                <a:latin typeface="Aptos"/>
              </a:defRPr>
            </a:pPr>
            <a:r>
              <a:t>Current limitations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532888"/>
            <a:ext cx="4846320" cy="257860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B7D97"/>
                </a:solidFill>
                <a:latin typeface="Aptos"/>
              </a:defRPr>
            </a:pPr>
            <a:r>
              <a:t>• Synthetic data, not actual business records</a:t>
            </a:r>
          </a:p>
          <a:p>
            <a:pPr>
              <a:spcAft>
                <a:spcPts val="800"/>
              </a:spcAft>
              <a:defRPr sz="1300" b="0">
                <a:solidFill>
                  <a:srgbClr val="6B7D97"/>
                </a:solidFill>
                <a:latin typeface="Aptos"/>
              </a:defRPr>
            </a:pPr>
            <a:r>
              <a:t>• No separate reverse-shipping, handling or refund costs</a:t>
            </a:r>
          </a:p>
          <a:p>
            <a:pPr>
              <a:spcAft>
                <a:spcPts val="800"/>
              </a:spcAft>
              <a:defRPr sz="1300" b="0">
                <a:solidFill>
                  <a:srgbClr val="6B7D97"/>
                </a:solidFill>
                <a:latin typeface="Aptos"/>
              </a:defRPr>
            </a:pPr>
            <a:r>
              <a:t>• No machine-learning prediction</a:t>
            </a:r>
          </a:p>
          <a:p>
            <a:pPr>
              <a:spcAft>
                <a:spcPts val="800"/>
              </a:spcAft>
              <a:defRPr sz="1300" b="0">
                <a:solidFill>
                  <a:srgbClr val="6B7D97"/>
                </a:solidFill>
                <a:latin typeface="Aptos"/>
              </a:defRPr>
            </a:pPr>
            <a:r>
              <a:t>• No real-time operational integration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1847088"/>
            <a:ext cx="5276088" cy="33284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36208" y="1847088"/>
            <a:ext cx="68580" cy="3328416"/>
          </a:xfrm>
          <a:prstGeom prst="rect">
            <a:avLst/>
          </a:prstGeom>
          <a:solidFill>
            <a:srgbClr val="F9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55664" y="2029968"/>
            <a:ext cx="4910327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C1C38"/>
                </a:solidFill>
                <a:latin typeface="Aptos"/>
              </a:defRPr>
            </a:pPr>
            <a:r>
              <a:t>Future 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2532888"/>
            <a:ext cx="4846320" cy="257860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B7D97"/>
                </a:solidFill>
                <a:latin typeface="Aptos"/>
              </a:defRPr>
            </a:pPr>
            <a:r>
              <a:t>• Test models for predicting return likelihood</a:t>
            </a:r>
          </a:p>
          <a:p>
            <a:pPr>
              <a:spcAft>
                <a:spcPts val="800"/>
              </a:spcAft>
              <a:defRPr sz="1300" b="0">
                <a:solidFill>
                  <a:srgbClr val="6B7D97"/>
                </a:solidFill>
                <a:latin typeface="Aptos"/>
              </a:defRPr>
            </a:pPr>
            <a:r>
              <a:t>• Collect actual reverse-logistics expense data</a:t>
            </a:r>
          </a:p>
          <a:p>
            <a:pPr>
              <a:spcAft>
                <a:spcPts val="800"/>
              </a:spcAft>
              <a:defRPr sz="1300" b="0">
                <a:solidFill>
                  <a:srgbClr val="6B7D97"/>
                </a:solidFill>
                <a:latin typeface="Aptos"/>
              </a:defRPr>
            </a:pPr>
            <a:r>
              <a:t>• Connect dashboards to live operations</a:t>
            </a:r>
          </a:p>
          <a:p>
            <a:pPr>
              <a:spcAft>
                <a:spcPts val="800"/>
              </a:spcAft>
              <a:defRPr sz="1300" b="0">
                <a:solidFill>
                  <a:srgbClr val="6B7D97"/>
                </a:solidFill>
                <a:latin typeface="Aptos"/>
              </a:defRPr>
            </a:pPr>
            <a:r>
              <a:t>• Validate recommendations with real business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559552"/>
            <a:ext cx="10332720" cy="4846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2151A9"/>
                </a:solidFill>
                <a:latin typeface="Aptos"/>
              </a:defRPr>
            </a:pPr>
            <a:r>
              <a:t>Outcome: an end-to-end analytics workflow that identifies return patterns and potential optimization opportunities.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9B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417320"/>
            <a:ext cx="1014984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spcAft>
                <a:spcPts val="800"/>
              </a:spcAft>
              <a:defRPr sz="4800" b="1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788920"/>
            <a:ext cx="1014984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spcAft>
                <a:spcPts val="800"/>
              </a:spcAft>
              <a:defRPr sz="2500" b="1">
                <a:solidFill>
                  <a:srgbClr val="19B5C1"/>
                </a:solidFill>
                <a:latin typeface="Aptos"/>
              </a:defRPr>
            </a:pPr>
            <a:r>
              <a:t>Questions &amp; Discussion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0" y="3813048"/>
            <a:ext cx="4507992" cy="32004"/>
          </a:xfrm>
          <a:prstGeom prst="rect">
            <a:avLst/>
          </a:prstGeom>
          <a:solidFill>
            <a:srgbClr val="2151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4315968"/>
            <a:ext cx="10149840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spcAft>
                <a:spcPts val="8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Deepa K Raj  •  Data Analytics Certification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902</Words>
  <Application>Microsoft Office PowerPoint</Application>
  <PresentationFormat>Custom</PresentationFormat>
  <Paragraphs>202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deepa Raj</dc:creator>
  <dc:description>generated using python-pptx</dc:description>
  <cp:lastModifiedBy>user</cp:lastModifiedBy>
  <cp:revision>4</cp:revision>
  <dcterms:created xsi:type="dcterms:W3CDTF">2013-01-27T09:14:16Z</dcterms:created>
  <dcterms:modified xsi:type="dcterms:W3CDTF">2026-10-11T09:28:00Z</dcterms:modified>
</cp:coreProperties>
</file>